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Instrument Serif"/>
      <p:regular r:id="rId201314"/>
    </p:embeddedFont>
    <p:embeddedFont>
      <p:font typeface="Inter"/>
      <p:regular r:id="rId201315"/>
    </p:embeddedFont>
    <p:embeddedFont>
      <p:font typeface="Inter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934343"/>
            <a:ext cx="1284751" cy="296863"/>
          </a:xfrm>
          <a:prstGeom prst="roundRect">
            <a:avLst>
              <a:gd name="adj" fmla="val 47392"/>
            </a:avLst>
          </a:prstGeom>
          <a:noFill/>
          <a:ln w="6350">
            <a:solidFill>
              <a:srgbClr val="0404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988" y="992882"/>
            <a:ext cx="1659987" cy="179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&amp; APIS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9814" y="1854002"/>
            <a:ext cx="5923707" cy="222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700" spc="-175" kern="100" dirty="0">
                <a:solidFill>
                  <a:srgbClr val="78787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React useEffect</a:t>
            </a:r>
            <a:pPr algn="l" indent="0" marL="0">
              <a:lnSpc>
                <a:spcPct val="83000"/>
              </a:lnSpc>
              <a:buNone/>
            </a:pPr>
            <a:r>
              <a:rPr lang="en-US" sz="8700" spc="-175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</a:t>
            </a:r>
            <a:pPr algn="l" indent="0" marL="0">
              <a:lnSpc>
                <a:spcPct val="83000"/>
              </a:lnSpc>
              <a:buNone/>
            </a:pPr>
            <a:r>
              <a:rPr lang="en-US" sz="8700" i="1" spc="-175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&amp; APIs</a:t>
            </a:r>
            <a:endParaRPr lang="en-US" sz="8700" dirty="0"/>
          </a:p>
        </p:txBody>
      </p:sp>
      <p:sp>
        <p:nvSpPr>
          <p:cNvPr id="5" name="Text 3"/>
          <p:cNvSpPr/>
          <p:nvPr/>
        </p:nvSpPr>
        <p:spPr>
          <a:xfrm>
            <a:off x="719814" y="4260056"/>
            <a:ext cx="5923707" cy="1643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7000"/>
              </a:lnSpc>
              <a:spcAft>
                <a:spcPts val="1300"/>
              </a:spcAft>
              <a:buNone/>
            </a:pPr>
            <a:endParaRPr lang="en-US" sz="1500" dirty="0"/>
          </a:p>
          <a:p>
            <a:pPr algn="l" indent="0" marL="0">
              <a:lnSpc>
                <a:spcPct val="97000"/>
              </a:lnSpc>
              <a:spcAft>
                <a:spcPts val="1300"/>
              </a:spcAft>
              <a:buNone/>
            </a:pPr>
            <a:endParaRPr lang="en-US" sz="1500" dirty="0"/>
          </a:p>
          <a:p>
            <a:pPr algn="l" indent="0" marL="0">
              <a:lnSpc>
                <a:spcPct val="97000"/>
              </a:lnSpc>
              <a:spcAft>
                <a:spcPts val="1300"/>
              </a:spcAft>
              <a:buNone/>
            </a:pPr>
            <a:endParaRPr lang="en-US" sz="15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1500" dirty="0">
                <a:solidFill>
                  <a:srgbClr val="7878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deep dive into side effects, the useEffect hook, what APIs are, and how REST APIs work — building from the ground up.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85817" y="725587"/>
            <a:ext cx="4633003" cy="5406727"/>
          </a:xfrm>
          <a:prstGeom prst="roundRect">
            <a:avLst>
              <a:gd name="adj" fmla="val 607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181174" y="934343"/>
            <a:ext cx="4242289" cy="1539379"/>
          </a:xfrm>
          <a:prstGeom prst="roundRect">
            <a:avLst>
              <a:gd name="adj" fmla="val 11424"/>
            </a:avLst>
          </a:prstGeom>
          <a:solidFill>
            <a:srgbClr val="F3FF99"/>
          </a:solidFill>
          <a:ln/>
          <a:effectLst>
            <a:outerShdw sx="100000" sy="100000" kx="0" ky="0" algn="bl" rotWithShape="0" blurRad="292100" dist="127" dir="1620000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76531" y="1129705"/>
            <a:ext cx="3851576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spc="-4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useEffect Hook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376531" y="1592858"/>
            <a:ext cx="3851576" cy="685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how React manages operations that happen outside the normal rendering cycle.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81174" y="2659261"/>
            <a:ext cx="4242289" cy="1539379"/>
          </a:xfrm>
          <a:prstGeom prst="roundRect">
            <a:avLst>
              <a:gd name="adj" fmla="val 11424"/>
            </a:avLst>
          </a:prstGeom>
          <a:solidFill>
            <a:srgbClr val="D1F5FB"/>
          </a:solidFill>
          <a:ln/>
          <a:effectLst>
            <a:outerShdw sx="100000" sy="100000" kx="0" ky="0" algn="bl" rotWithShape="0" blurRad="292100" dist="127" dir="1620000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76531" y="2854623"/>
            <a:ext cx="3851576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spc="-4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Side Effects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376531" y="3317776"/>
            <a:ext cx="3851576" cy="685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what side effects are, why they exist, and how to handle them cleanly in React.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81174" y="4384179"/>
            <a:ext cx="4242289" cy="1539379"/>
          </a:xfrm>
          <a:prstGeom prst="roundRect">
            <a:avLst>
              <a:gd name="adj" fmla="val 11424"/>
            </a:avLst>
          </a:prstGeom>
          <a:solidFill>
            <a:srgbClr val="EEDFFC"/>
          </a:solidFill>
          <a:ln/>
          <a:effectLst>
            <a:outerShdw sx="100000" sy="100000" kx="0" ky="0" algn="bl" rotWithShape="0" blurRad="292100" dist="127" dir="1620000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76531" y="4579541"/>
            <a:ext cx="3851576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50" spc="-4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APIs &amp; REST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376531" y="5042694"/>
            <a:ext cx="3851576" cy="685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what APIs are, how REST works, and how to fetch data in your React components.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721122"/>
            <a:ext cx="1142674" cy="250031"/>
          </a:xfrm>
          <a:prstGeom prst="roundRect">
            <a:avLst>
              <a:gd name="adj" fmla="val 47385"/>
            </a:avLst>
          </a:prstGeom>
          <a:noFill/>
          <a:ln w="6350">
            <a:solidFill>
              <a:srgbClr val="0404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8534" y="770434"/>
            <a:ext cx="1554818" cy="151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BASICS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9814" y="1023739"/>
            <a:ext cx="10752067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50" spc="-7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is </a:t>
            </a:r>
            <a:pPr algn="l" indent="0" marL="0">
              <a:lnSpc>
                <a:spcPct val="83000"/>
              </a:lnSpc>
              <a:buNone/>
            </a:pPr>
            <a:r>
              <a:rPr lang="en-US" sz="3650" i="1" spc="-7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useEffect?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01350" y="1688703"/>
            <a:ext cx="5412247" cy="4448076"/>
          </a:xfrm>
          <a:prstGeom prst="roundRect">
            <a:avLst>
              <a:gd name="adj" fmla="val 5327"/>
            </a:avLst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65850" y="1820267"/>
            <a:ext cx="508324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spc="-44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Key Facts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5850" y="2331045"/>
            <a:ext cx="3590637" cy="205680"/>
          </a:xfrm>
          <a:prstGeom prst="roundRect">
            <a:avLst>
              <a:gd name="adj" fmla="val 49999"/>
            </a:avLst>
          </a:prstGeom>
          <a:solidFill>
            <a:srgbClr val="000000"/>
          </a:solidFill>
          <a:ln/>
          <a:effectLst>
            <a:outerShdw sx="100000" sy="100000" kx="0" ky="0" algn="bl" rotWithShape="0" blurRad="246380" dist="127" dir="16200000">
              <a:srgbClr val="ffffff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79813" y="2331045"/>
            <a:ext cx="35261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Hook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5850" y="2717701"/>
            <a:ext cx="50832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It's a React Hook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5850" y="3083024"/>
            <a:ext cx="508324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in React 16.8 alongside all other hooks.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5850" y="3606205"/>
            <a:ext cx="3623180" cy="205680"/>
          </a:xfrm>
          <a:prstGeom prst="roundRect">
            <a:avLst>
              <a:gd name="adj" fmla="val 49999"/>
            </a:avLst>
          </a:prstGeom>
          <a:solidFill>
            <a:srgbClr val="000000"/>
          </a:solidFill>
          <a:ln/>
          <a:effectLst>
            <a:outerShdw sx="100000" sy="100000" kx="0" ky="0" algn="bl" rotWithShape="0" blurRad="246380" dist="127" dir="16200000">
              <a:srgbClr val="ffffff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12356" y="3606205"/>
            <a:ext cx="32007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After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5850" y="3992860"/>
            <a:ext cx="50832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Runs After Render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5850" y="4358184"/>
            <a:ext cx="508324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useEffect always runs after the component renders to the screen.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5850" y="5059065"/>
            <a:ext cx="3636872" cy="205680"/>
          </a:xfrm>
          <a:prstGeom prst="roundRect">
            <a:avLst>
              <a:gd name="adj" fmla="val 49999"/>
            </a:avLst>
          </a:prstGeom>
          <a:solidFill>
            <a:srgbClr val="000000"/>
          </a:solidFill>
          <a:ln/>
          <a:effectLst>
            <a:outerShdw sx="100000" sy="100000" kx="0" ky="0" algn="bl" rotWithShape="0" blurRad="246380" dist="127" dir="16200000">
              <a:srgbClr val="ffffff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048" y="5059065"/>
            <a:ext cx="30638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5850" y="5445720"/>
            <a:ext cx="50832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Automatic Cleanup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5850" y="5811044"/>
            <a:ext cx="5083246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return a cleanup function to avoid memory leaks.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84448" y="1688703"/>
            <a:ext cx="5412247" cy="4448076"/>
          </a:xfrm>
          <a:prstGeom prst="roundRect">
            <a:avLst>
              <a:gd name="adj" fmla="val 532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48948" y="1820267"/>
            <a:ext cx="508324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spc="-4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48948" y="2232323"/>
            <a:ext cx="5083246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useEffect accepts two arguments: a callback function and a dependency array.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81047" y="2735759"/>
            <a:ext cx="19050" cy="3151088"/>
          </a:xfrm>
          <a:prstGeom prst="roundRect">
            <a:avLst>
              <a:gd name="adj" fmla="val 49999"/>
            </a:avLst>
          </a:pr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30932" y="2911277"/>
            <a:ext cx="493601" cy="19050"/>
          </a:xfrm>
          <a:prstGeom prst="roundRect">
            <a:avLst>
              <a:gd name="adj" fmla="val 49999"/>
            </a:avLst>
          </a:prstGeom>
          <a:solidFill>
            <a:srgbClr val="E5E5E5"/>
          </a:solidFill>
          <a:ln/>
        </p:spPr>
      </p:sp>
      <p:sp>
        <p:nvSpPr>
          <p:cNvPr id="24" name="Shape 22"/>
          <p:cNvSpPr/>
          <p:nvPr/>
        </p:nvSpPr>
        <p:spPr>
          <a:xfrm>
            <a:off x="8705483" y="2735759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6380" dist="127" dir="16200000">
              <a:srgbClr val="33333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50329" y="2780605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48948" y="2818011"/>
            <a:ext cx="1718922" cy="935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3000"/>
              </a:lnSpc>
              <a:buNone/>
            </a:pPr>
            <a:r>
              <a:rPr lang="en-US" sz="1800" b="1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Step 1 — Render:</a:t>
            </a:r>
            <a:pPr algn="r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React renders your component to the DOM first.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056610" y="3832721"/>
            <a:ext cx="493601" cy="19050"/>
          </a:xfrm>
          <a:prstGeom prst="roundRect">
            <a:avLst>
              <a:gd name="adj" fmla="val 49999"/>
            </a:avLst>
          </a:prstGeom>
          <a:solidFill>
            <a:srgbClr val="E5E5E5"/>
          </a:solidFill>
          <a:ln/>
        </p:spPr>
      </p:sp>
      <p:sp>
        <p:nvSpPr>
          <p:cNvPr id="28" name="Shape 26"/>
          <p:cNvSpPr/>
          <p:nvPr/>
        </p:nvSpPr>
        <p:spPr>
          <a:xfrm>
            <a:off x="8705483" y="3657203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6380" dist="127" dir="16200000">
              <a:srgbClr val="333333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750329" y="3702050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713273" y="3739455"/>
            <a:ext cx="1718922" cy="935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Step 2 — Effect Runs:</a:t>
            </a:r>
            <a:pPr algn="l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useEffect's callback executes after the render is painted.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230932" y="4663678"/>
            <a:ext cx="493601" cy="19050"/>
          </a:xfrm>
          <a:prstGeom prst="roundRect">
            <a:avLst>
              <a:gd name="adj" fmla="val 49999"/>
            </a:avLst>
          </a:prstGeom>
          <a:solidFill>
            <a:srgbClr val="E5E5E5"/>
          </a:solidFill>
          <a:ln/>
        </p:spPr>
      </p:sp>
      <p:sp>
        <p:nvSpPr>
          <p:cNvPr id="32" name="Shape 30"/>
          <p:cNvSpPr/>
          <p:nvPr/>
        </p:nvSpPr>
        <p:spPr>
          <a:xfrm>
            <a:off x="8705483" y="4488160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6380" dist="127" dir="16200000">
              <a:srgbClr val="333333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750329" y="4533007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348948" y="4570413"/>
            <a:ext cx="1718922" cy="935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3000"/>
              </a:lnSpc>
              <a:buNone/>
            </a:pPr>
            <a:r>
              <a:rPr lang="en-US" sz="1800" b="1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Step 3 — Cleanup:</a:t>
            </a:r>
            <a:pPr algn="r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On re-render or unmount, the cleanup function is called.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52463"/>
            <a:ext cx="1543805" cy="312440"/>
          </a:xfrm>
          <a:prstGeom prst="roundRect">
            <a:avLst>
              <a:gd name="adj" fmla="val 47400"/>
            </a:avLst>
          </a:prstGeom>
          <a:noFill/>
          <a:ln w="6350">
            <a:solidFill>
              <a:srgbClr val="0404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140" y="714077"/>
            <a:ext cx="190673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9814" y="1047155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92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is a </a:t>
            </a:r>
            <a:pPr algn="l" indent="0" marL="0">
              <a:lnSpc>
                <a:spcPct val="83000"/>
              </a:lnSpc>
              <a:buNone/>
            </a:pPr>
            <a:r>
              <a:rPr lang="en-US" sz="4600" i="1" spc="-92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Side Effect?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19814" y="1940024"/>
            <a:ext cx="10752067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side effect is any operation that reaches outside the React component's pure rendering logic — anything that interacts with the outside world or changes something beyond returning JSX.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9814" y="2664916"/>
            <a:ext cx="5273146" cy="1667470"/>
          </a:xfrm>
          <a:prstGeom prst="roundRect">
            <a:avLst>
              <a:gd name="adj" fmla="val 11102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sx="100000" sy="100000" kx="0" ky="0" algn="bl" rotWithShape="0" blurRad="307340" dist="127" dir="1620000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889" y="2895997"/>
            <a:ext cx="481099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300" spc="-4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🌐</a:t>
            </a:r>
            <a:pPr algn="l" indent="0" marL="0">
              <a:lnSpc>
                <a:spcPct val="83000"/>
              </a:lnSpc>
              <a:buNone/>
            </a:pPr>
            <a:r>
              <a:rPr lang="en-US" sz="2300" spc="-46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Data Fetching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50889" y="3311525"/>
            <a:ext cx="4810997" cy="78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Calling an API to load data from a server. The network request happens outside React's render cycle — React has no control over when the response arrives, making this a classic side effect.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8636" y="2664916"/>
            <a:ext cx="5273245" cy="1667470"/>
          </a:xfrm>
          <a:prstGeom prst="roundRect">
            <a:avLst>
              <a:gd name="adj" fmla="val 11102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sx="100000" sy="100000" kx="0" ky="0" algn="bl" rotWithShape="0" blurRad="307340" dist="127" dir="1620000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9710" y="2895997"/>
            <a:ext cx="48110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300" spc="-4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⏱️</a:t>
            </a:r>
            <a:pPr algn="l" indent="0" marL="0">
              <a:lnSpc>
                <a:spcPct val="83000"/>
              </a:lnSpc>
              <a:buNone/>
            </a:pPr>
            <a:r>
              <a:rPr lang="en-US" sz="2300" spc="-46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Timers &amp; Intervals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29710" y="3311525"/>
            <a:ext cx="4811096" cy="59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C3C"/>
                </a:solidFill>
                <a:highlight>
                  <a:srgbClr val="EEEEE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C3C"/>
                </a:solidFill>
                <a:highlight>
                  <a:srgbClr val="EEEEE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schedule work. These run asynchronously and persist beyond a single render, so React can't manage them automatically without useEffect.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9814" y="4538067"/>
            <a:ext cx="5273146" cy="1667470"/>
          </a:xfrm>
          <a:prstGeom prst="roundRect">
            <a:avLst>
              <a:gd name="adj" fmla="val 11102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sx="100000" sy="100000" kx="0" ky="0" algn="bl" rotWithShape="0" blurRad="307340" dist="127" dir="1620000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50889" y="4769148"/>
            <a:ext cx="481099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300" spc="-4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📄</a:t>
            </a:r>
            <a:pPr algn="l" indent="0" marL="0">
              <a:lnSpc>
                <a:spcPct val="83000"/>
              </a:lnSpc>
              <a:buNone/>
            </a:pPr>
            <a:r>
              <a:rPr lang="en-US" sz="2300" spc="-46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DOM Manipulation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50889" y="5184676"/>
            <a:ext cx="4810997" cy="59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 accessing or modifying the DOM (e.g.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C3C"/>
                </a:solidFill>
                <a:highlight>
                  <a:srgbClr val="EEEEE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document.title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focus management, third-party libraries). React manages the virtual DOM — direct DOM access is a side effect.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8636" y="4538067"/>
            <a:ext cx="5273245" cy="1667470"/>
          </a:xfrm>
          <a:prstGeom prst="roundRect">
            <a:avLst>
              <a:gd name="adj" fmla="val 11102"/>
            </a:avLst>
          </a:prstGeom>
          <a:solidFill>
            <a:srgbClr val="FBFBFB"/>
          </a:solidFill>
          <a:ln w="25399">
            <a:solidFill>
              <a:srgbClr val="FFFFFF"/>
            </a:solidFill>
            <a:prstDash val="solid"/>
          </a:ln>
          <a:effectLst>
            <a:outerShdw sx="100000" sy="100000" kx="0" ky="0" algn="bl" rotWithShape="0" blurRad="307340" dist="127" dir="1620000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9710" y="4769148"/>
            <a:ext cx="48110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300" spc="-46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🔔</a:t>
            </a:r>
            <a:pPr algn="l" indent="0" marL="0">
              <a:lnSpc>
                <a:spcPct val="83000"/>
              </a:lnSpc>
              <a:buNone/>
            </a:pPr>
            <a:r>
              <a:rPr lang="en-US" sz="2300" spc="-46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Subscriptions &amp; Events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429710" y="5184676"/>
            <a:ext cx="4811096" cy="78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Listening to WebSocket events, browser resize events, or any external subscription. These must be set up and torn down carefully — useEffect's cleanup function handles this perfectly.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74787"/>
            <a:ext cx="980753" cy="281186"/>
          </a:xfrm>
          <a:prstGeom prst="roundRect">
            <a:avLst>
              <a:gd name="adj" fmla="val 47401"/>
            </a:avLst>
          </a:prstGeom>
          <a:noFill/>
          <a:ln w="6350">
            <a:solidFill>
              <a:srgbClr val="0404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0837" y="730250"/>
            <a:ext cx="1368292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9814" y="1022548"/>
            <a:ext cx="10752067" cy="525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100" spc="-83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useEffect — </a:t>
            </a:r>
            <a:pPr algn="l" indent="0" marL="0">
              <a:lnSpc>
                <a:spcPct val="83000"/>
              </a:lnSpc>
              <a:buNone/>
            </a:pPr>
            <a:r>
              <a:rPr lang="en-US" sz="4100" i="1" spc="-83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Dependency Array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586467" y="1798340"/>
            <a:ext cx="3736286" cy="3405188"/>
          </a:xfrm>
          <a:prstGeom prst="roundRect">
            <a:avLst>
              <a:gd name="adj" fmla="val 7828"/>
            </a:avLst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71506" y="2395339"/>
            <a:ext cx="3366210" cy="26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50" spc="-41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Why Dependencies Matter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71506" y="2824857"/>
            <a:ext cx="3366210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dependency array is the second argument to useEffect. It tells React </a:t>
            </a:r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</a:t>
            </a:r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re-run the effect. Getting this right is the most important skill when using useEffect — wrong dependencies cause infinite loops or stale data bugs.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1506" y="4071739"/>
            <a:ext cx="3366210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1506" y="4330799"/>
            <a:ext cx="3366210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50" spc="-41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Syntax: </a:t>
            </a:r>
            <a:pPr algn="l" indent="0" marL="0">
              <a:lnSpc>
                <a:spcPct val="83000"/>
              </a:lnSpc>
              <a:buNone/>
            </a:pPr>
            <a:r>
              <a:rPr lang="en-US" sz="2050" spc="-41" kern="100" dirty="0">
                <a:solidFill>
                  <a:srgbClr val="FFFFFF"/>
                </a:solidFill>
                <a:highlight>
                  <a:srgbClr val="0D0D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useEffect(fn, [deps])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4514043" y="1798340"/>
            <a:ext cx="7097436" cy="3405188"/>
          </a:xfrm>
          <a:prstGeom prst="roundRect">
            <a:avLst>
              <a:gd name="adj" fmla="val 7828"/>
            </a:avLst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638" y="1426964"/>
            <a:ext cx="7172146" cy="414793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62690" y="3381285"/>
            <a:ext cx="1137105" cy="15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spc="-24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Predictability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90875" y="4765843"/>
            <a:ext cx="1546413" cy="15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spc="-24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Runs Less Often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919579" y="3381285"/>
            <a:ext cx="1137104" cy="15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spc="-24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Runs On Change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87472" y="2117888"/>
            <a:ext cx="1546413" cy="15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spc="-24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Runs More Often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32056" y="4091426"/>
            <a:ext cx="1167347" cy="25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Array [count,id] — runs on value change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34890" y="4097475"/>
            <a:ext cx="1167346" cy="25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Pitfalls — missing or stale deps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334890" y="2978487"/>
            <a:ext cx="1167346" cy="25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Empty Array [] — runs once on mount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695766" y="2978487"/>
            <a:ext cx="1167347" cy="25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Array — runs after every render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19814" y="5390952"/>
            <a:ext cx="5292692" cy="792163"/>
          </a:xfrm>
          <a:prstGeom prst="roundRect">
            <a:avLst>
              <a:gd name="adj" fmla="val 21032"/>
            </a:avLst>
          </a:prstGeom>
          <a:solidFill>
            <a:srgbClr val="F3FF99"/>
          </a:solidFill>
          <a:ln/>
          <a:effectLst>
            <a:outerShdw sx="100000" sy="100000" kx="0" ky="0" algn="bl" rotWithShape="0" blurRad="276860" dist="127" dir="16200000">
              <a:srgbClr val="333333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4852" y="5575995"/>
            <a:ext cx="4922615" cy="422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Array</a:t>
            </a:r>
            <a:pPr algn="l"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Effect runs after </a:t>
            </a:r>
            <a:pPr algn="l" indent="0" marL="0">
              <a:lnSpc>
                <a:spcPct val="95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</a:t>
            </a:r>
            <a:pPr algn="l" indent="0" marL="0">
              <a:lnSpc>
                <a:spcPct val="9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render. Use carefully — can cause infinite re-renders if you set state inside.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79090" y="5390952"/>
            <a:ext cx="5292791" cy="792163"/>
          </a:xfrm>
          <a:prstGeom prst="roundRect">
            <a:avLst>
              <a:gd name="adj" fmla="val 21032"/>
            </a:avLst>
          </a:prstGeom>
          <a:solidFill>
            <a:srgbClr val="D1F5FB"/>
          </a:solidFill>
          <a:ln/>
          <a:effectLst>
            <a:outerShdw sx="100000" sy="100000" kx="0" ky="0" algn="bl" rotWithShape="0" blurRad="276860" dist="127" dir="16200000">
              <a:srgbClr val="333333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364128" y="5575995"/>
            <a:ext cx="4922714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Empty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809625"/>
            <a:ext cx="1379503" cy="218777"/>
          </a:xfrm>
          <a:prstGeom prst="roundRect">
            <a:avLst>
              <a:gd name="adj" fmla="val 47385"/>
            </a:avLst>
          </a:prstGeom>
          <a:noFill/>
          <a:ln w="6350">
            <a:solidFill>
              <a:srgbClr val="0404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6132" y="852785"/>
            <a:ext cx="1816451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USEEFFECT PATTERN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9814" y="1068685"/>
            <a:ext cx="5200421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Cleanup &amp; </a:t>
            </a:r>
            <a:pPr algn="l" indent="0" marL="0">
              <a:lnSpc>
                <a:spcPct val="83000"/>
              </a:lnSpc>
              <a:buNone/>
            </a:pPr>
            <a:r>
              <a:rPr lang="en-US" sz="3200" i="1" spc="-6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Common Patterns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9814" y="1578471"/>
            <a:ext cx="5200421" cy="2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cleanup function returned from useEffect prevents memory leaks and ensures your component behaves correctly when it unmounts or re-renders.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9814" y="1972866"/>
            <a:ext cx="5200421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Most Common useEffect Patterns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3841" y="2074685"/>
            <a:ext cx="5632366" cy="12958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8842" y="2614613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3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15419" y="2453680"/>
            <a:ext cx="4341803" cy="41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b="1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Fetch on Mount</a:t>
            </a:r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Call an API once when the component loads using an empty dependency array </a:t>
            </a:r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highlight>
                  <a:srgbClr val="EEEEE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841" y="3039290"/>
            <a:ext cx="5632366" cy="12958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8842" y="3579217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3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15419" y="3418284"/>
            <a:ext cx="4341803" cy="41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b="1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Reactive Fetch</a:t>
            </a:r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Re-fetch data when a prop like </a:t>
            </a:r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highlight>
                  <a:srgbClr val="EEEEE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changes by listing it in dependencies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3841" y="4003895"/>
            <a:ext cx="5632366" cy="12958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8842" y="4543822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3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415419" y="4382889"/>
            <a:ext cx="434180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b="1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Event Listener</a:t>
            </a:r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Add an event listener on mount and remove it in the cleanup function to avoid leaks</a:t>
            </a:r>
            <a:endParaRPr lang="en-US" sz="1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3841" y="4968499"/>
            <a:ext cx="5632366" cy="12958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8842" y="5508427"/>
            <a:ext cx="215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spc="-3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415419" y="5347494"/>
            <a:ext cx="434180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b="1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Abort Controller</a:t>
            </a:r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Cancel in-flight fetch requests in cleanup to prevent setting state after unmount</a:t>
            </a:r>
            <a:endParaRPr lang="en-US" sz="16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1646" y="1388765"/>
            <a:ext cx="4272749" cy="408037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505866" y="3898190"/>
            <a:ext cx="1078249" cy="153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spc="-24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Mount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7505866" y="4100049"/>
            <a:ext cx="1078249" cy="34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 runs once when component mounts.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8317794" y="2418637"/>
            <a:ext cx="1078250" cy="153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spc="-24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Update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317794" y="2620497"/>
            <a:ext cx="1078250" cy="34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Cleanup runs then effect re-runs if deps change.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9177744" y="3898190"/>
            <a:ext cx="1078249" cy="153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spc="-24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Unmount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9177744" y="4100049"/>
            <a:ext cx="1078249" cy="34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Cleanup runs to prevent memory leaks.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16049"/>
            <a:ext cx="514536" cy="261541"/>
          </a:xfrm>
          <a:prstGeom prst="roundRect">
            <a:avLst>
              <a:gd name="adj" fmla="val 47378"/>
            </a:avLst>
          </a:prstGeom>
          <a:noFill/>
          <a:ln w="6350">
            <a:solidFill>
              <a:srgbClr val="0404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99" y="667643"/>
            <a:ext cx="917750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9814" y="935137"/>
            <a:ext cx="10752067" cy="488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spc="-77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is an </a:t>
            </a:r>
            <a:pPr algn="l" indent="0" marL="0">
              <a:lnSpc>
                <a:spcPct val="83000"/>
              </a:lnSpc>
              <a:buNone/>
            </a:pPr>
            <a:r>
              <a:rPr lang="en-US" sz="3800" i="1" spc="-77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API?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9814" y="1640086"/>
            <a:ext cx="10752067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spcAft>
                <a:spcPts val="1250"/>
              </a:spcAft>
              <a:buNone/>
            </a:pPr>
            <a:r>
              <a:rPr lang="en-US" sz="13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</a:t>
            </a:r>
            <a:pPr algn="l" indent="0" marL="0">
              <a:lnSpc>
                <a:spcPct val="92000"/>
              </a:lnSpc>
              <a:spcAft>
                <a:spcPts val="1250"/>
              </a:spcAft>
              <a:buNone/>
            </a:pPr>
            <a:r>
              <a:rPr lang="en-US" sz="13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(Application Programming Interface)</a:t>
            </a:r>
            <a:pPr algn="l" indent="0" marL="0">
              <a:lnSpc>
                <a:spcPct val="92000"/>
              </a:lnSpc>
              <a:spcAft>
                <a:spcPts val="1250"/>
              </a:spcAft>
              <a:buNone/>
            </a:pPr>
            <a:r>
              <a:rPr lang="en-US" sz="13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contract that defines how two pieces of software communicate. It specifies what requests you can make, what format to use, and what responses you'll get back.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659" y="2532962"/>
            <a:ext cx="5820312" cy="203754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8531" y="2687935"/>
            <a:ext cx="206469" cy="2064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0905" y="3221335"/>
            <a:ext cx="4921821" cy="24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spc="-38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Interface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10905" y="3552130"/>
            <a:ext cx="4921821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API is a defined interface — a set of rules and endpoints both sides agree to. The client doesn't need to know the server's internal implementation.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9625" y="2532962"/>
            <a:ext cx="5820411" cy="203754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16596" y="2687935"/>
            <a:ext cx="206469" cy="20647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58870" y="3221335"/>
            <a:ext cx="4921921" cy="24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spc="-38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Request &amp; Response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6358870" y="3552130"/>
            <a:ext cx="4921921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client sends a </a:t>
            </a:r>
            <a:pPr algn="l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request</a:t>
            </a:r>
            <a:pPr algn="l" indent="0" marL="0">
              <a:lnSpc>
                <a:spcPct val="92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(what it wants) and the server returns a </a:t>
            </a:r>
            <a:pPr algn="l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response</a:t>
            </a:r>
            <a:pPr algn="l" indent="0" marL="0">
              <a:lnSpc>
                <a:spcPct val="92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(the result or data), usually in JSON format on the web.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659" y="4456218"/>
            <a:ext cx="5820312" cy="2043894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8531" y="4611191"/>
            <a:ext cx="206469" cy="20647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10905" y="5144591"/>
            <a:ext cx="4921821" cy="24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spc="-38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Abstraction Layer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910905" y="5475387"/>
            <a:ext cx="4921821" cy="575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hide complexity. You don't need to know how a database stores users — you just call </a:t>
            </a:r>
            <a:pPr algn="l" indent="0" marL="0">
              <a:lnSpc>
                <a:spcPct val="92000"/>
              </a:lnSpc>
              <a:buNone/>
            </a:pPr>
            <a:r>
              <a:rPr lang="en-US" sz="1350" dirty="0">
                <a:solidFill>
                  <a:srgbClr val="3C3C3C"/>
                </a:solidFill>
                <a:highlight>
                  <a:srgbClr val="EEEEE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/users/1</a:t>
            </a:r>
            <a:pPr algn="l" indent="0" marL="0">
              <a:lnSpc>
                <a:spcPct val="92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get the data.</a:t>
            </a:r>
            <a:endParaRPr lang="en-US" sz="13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09625" y="4456218"/>
            <a:ext cx="5820411" cy="2043894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16596" y="4611191"/>
            <a:ext cx="206469" cy="20647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358870" y="5144591"/>
            <a:ext cx="4921921" cy="24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spc="-38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Universal Language</a:t>
            </a:r>
            <a:endParaRPr lang="en-US" sz="1900" dirty="0"/>
          </a:p>
        </p:txBody>
      </p:sp>
      <p:sp>
        <p:nvSpPr>
          <p:cNvPr id="21" name="Text 11"/>
          <p:cNvSpPr/>
          <p:nvPr/>
        </p:nvSpPr>
        <p:spPr>
          <a:xfrm>
            <a:off x="6358870" y="5475387"/>
            <a:ext cx="4921921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let different systems talk — a React frontend, a Python backend, and a mobile app can all communicate through the same API.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748605"/>
            <a:ext cx="753548" cy="218777"/>
          </a:xfrm>
          <a:prstGeom prst="roundRect">
            <a:avLst>
              <a:gd name="adj" fmla="val 47385"/>
            </a:avLst>
          </a:prstGeom>
          <a:noFill/>
          <a:ln w="6350">
            <a:solidFill>
              <a:srgbClr val="0404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6132" y="791766"/>
            <a:ext cx="1190496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9814" y="1007666"/>
            <a:ext cx="10752067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is a </a:t>
            </a:r>
            <a:pPr algn="l" indent="0" marL="0">
              <a:lnSpc>
                <a:spcPct val="83000"/>
              </a:lnSpc>
              <a:buNone/>
            </a:pPr>
            <a:r>
              <a:rPr lang="en-US" sz="3200" i="1" spc="-6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REST API?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9814" y="1668562"/>
            <a:ext cx="5200421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REST Principles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9814" y="1986359"/>
            <a:ext cx="5200421" cy="886817"/>
          </a:xfrm>
          <a:prstGeom prst="roundRect">
            <a:avLst>
              <a:gd name="adj" fmla="val 146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5900" dist="127" dir="1620000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3777" y="2130326"/>
            <a:ext cx="4912495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Stateless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777" y="2435523"/>
            <a:ext cx="4912495" cy="2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request contains all the information needed. The server stores no session state between requests — each call is independent.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9814" y="2973884"/>
            <a:ext cx="5200421" cy="886817"/>
          </a:xfrm>
          <a:prstGeom prst="roundRect">
            <a:avLst>
              <a:gd name="adj" fmla="val 146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5900" dist="127" dir="1620000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3777" y="3117850"/>
            <a:ext cx="4912495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Resource-Based URLs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777" y="3423047"/>
            <a:ext cx="4912495" cy="2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organizes everything around </a:t>
            </a:r>
            <a:pPr algn="l" indent="0" marL="0">
              <a:lnSpc>
                <a:spcPct val="8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resources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(nouns), not actions. URLs like 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EEEEE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EEEEE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/posts/5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EEEEE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/comments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 things, not verbs.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9814" y="3961408"/>
            <a:ext cx="5200421" cy="886817"/>
          </a:xfrm>
          <a:prstGeom prst="roundRect">
            <a:avLst>
              <a:gd name="adj" fmla="val 146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5900" dist="127" dir="1620000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3777" y="4105374"/>
            <a:ext cx="4912495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Uses HTTP Methods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777" y="4410571"/>
            <a:ext cx="4912495" cy="2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uses standard HTTP verbs — GET, POST, PUT, PATCH, DELETE — to describe what action to perform on a resource.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4129" y="1567855"/>
            <a:ext cx="5407783" cy="4541540"/>
          </a:xfrm>
          <a:prstGeom prst="roundRect">
            <a:avLst>
              <a:gd name="adj" fmla="val 456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092" y="1668562"/>
            <a:ext cx="51198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HTTP Methods (CRUD)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18092" y="2058293"/>
            <a:ext cx="3231077" cy="179884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5900" dist="127" dir="16200000">
              <a:srgbClr val="33333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57116" y="2058194"/>
            <a:ext cx="24486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18092" y="2385616"/>
            <a:ext cx="51198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Read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18092" y="2690813"/>
            <a:ext cx="5119857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a resource. 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/users/1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returns user with id 1.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18092" y="3111103"/>
            <a:ext cx="3154680" cy="179884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5900" dist="127" dir="16200000">
              <a:srgbClr val="33333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80720" y="3111004"/>
            <a:ext cx="3212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18092" y="3438426"/>
            <a:ext cx="51198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Create 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8092" y="3743623"/>
            <a:ext cx="5119857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new resource. 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/users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body creates a user.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18092" y="4163913"/>
            <a:ext cx="3223537" cy="179884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5900" dist="127" dir="16200000">
              <a:srgbClr val="33333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49576" y="4163814"/>
            <a:ext cx="25240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18092" y="4491236"/>
            <a:ext cx="51198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Update (Full)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18092" y="4796433"/>
            <a:ext cx="5119857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an entire resource. 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PUT /users/1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replaces user 1.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18092" y="5216723"/>
            <a:ext cx="3002284" cy="179884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5900" dist="127" dir="16200000">
              <a:srgbClr val="333333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428324" y="5216624"/>
            <a:ext cx="47365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spc="-28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DELETE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18092" y="5544046"/>
            <a:ext cx="51198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spc="-32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Delete Data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18092" y="5849243"/>
            <a:ext cx="5119857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a resource. 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/users/1</a:t>
            </a:r>
            <a:pPr algn="l" indent="0" marL="0">
              <a:lnSpc>
                <a:spcPct val="8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deletes user 1.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566936"/>
            <a:ext cx="1345174" cy="199827"/>
          </a:xfrm>
          <a:prstGeom prst="roundRect">
            <a:avLst>
              <a:gd name="adj" fmla="val 47420"/>
            </a:avLst>
          </a:prstGeom>
          <a:noFill/>
          <a:ln w="6350">
            <a:solidFill>
              <a:srgbClr val="0404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8691" y="606326"/>
            <a:ext cx="1797005" cy="121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PUTTING IT TOGETHER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9814" y="800398"/>
            <a:ext cx="10752067" cy="373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spc="-59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Fetching APIs </a:t>
            </a:r>
            <a:pPr algn="l" indent="0" marL="0">
              <a:lnSpc>
                <a:spcPct val="83000"/>
              </a:lnSpc>
              <a:buNone/>
            </a:pPr>
            <a:r>
              <a:rPr lang="en-US" sz="2900" i="1" spc="-59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with useEffect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19814" y="1376263"/>
            <a:ext cx="5215502" cy="463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spcAft>
                <a:spcPts val="550"/>
              </a:spcAft>
              <a:buNone/>
            </a:pPr>
            <a:r>
              <a:rPr lang="en-US" sz="10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Combining useEffect with the Fetch API (or Axios) is the standard pattern for loading server data in a React component. Here's how the pieces connect: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9814" y="1934766"/>
            <a:ext cx="5215502" cy="4261545"/>
          </a:xfrm>
          <a:prstGeom prst="roundRect">
            <a:avLst>
              <a:gd name="adj" fmla="val 2779"/>
            </a:avLst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877667" y="2066330"/>
            <a:ext cx="4899795" cy="399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Create an AbortController for cleanup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controller = new AbortController();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Define and call the async fetch function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function fetchUser() 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fetch(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'https://api.example.com/users/1',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signal: controller.signal }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res.json();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setUser(data); // 3. Store in state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fetchUser();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4. Cleanup: cancel request on unmount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() =&gt; controller.abort();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[userId]); // 5. Re-run when userId changes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2729" y="2872284"/>
            <a:ext cx="5215502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spc="-29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Full Data Flow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380" y="2753816"/>
            <a:ext cx="4190101" cy="2072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14493" y="4121627"/>
            <a:ext cx="511300" cy="89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700" spc="-14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Update State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9270113" y="4121627"/>
            <a:ext cx="511301" cy="89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700" spc="-14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Receive JSON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8629236" y="4121627"/>
            <a:ext cx="511301" cy="89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700" spc="-14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Send Request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7988360" y="4121627"/>
            <a:ext cx="511301" cy="89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700" spc="-14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useEffect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333475" y="4121627"/>
            <a:ext cx="511301" cy="89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700" spc="-14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Mount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262729" y="4520605"/>
            <a:ext cx="5215502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component renders first (possibly with a loading state), then useEffect fires, the REST API call goes out, data comes back as JSON, and </a:t>
            </a:r>
            <a:pPr algn="l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3C3C3C"/>
                </a:solidFill>
                <a:highlight>
                  <a:srgbClr val="EEEEE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setState</a:t>
            </a:r>
            <a:pPr algn="l" indent="0" marL="0">
              <a:lnSpc>
                <a:spcPct val="82000"/>
              </a:lnSpc>
              <a:buNone/>
            </a:pPr>
            <a:r>
              <a:rPr lang="en-US" sz="8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triggers a final re-render with real data.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162050"/>
            <a:ext cx="5175319" cy="1869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350" spc="-147" kern="100" dirty="0">
                <a:solidFill>
                  <a:srgbClr val="78787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Key </a:t>
            </a:r>
            <a:endParaRPr lang="en-US" sz="735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350" i="1" spc="-147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Takeaways</a:t>
            </a:r>
            <a:endParaRPr lang="en-US" sz="7350" dirty="0"/>
          </a:p>
        </p:txBody>
      </p:sp>
      <p:sp>
        <p:nvSpPr>
          <p:cNvPr id="3" name="Text 1"/>
          <p:cNvSpPr/>
          <p:nvPr/>
        </p:nvSpPr>
        <p:spPr>
          <a:xfrm>
            <a:off x="719814" y="3163491"/>
            <a:ext cx="517531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now have a solid mental model connecting React's rendering lifecycle to the outside world through useEffect and REST APIs.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302912" y="865882"/>
            <a:ext cx="517531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We Covered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2912" y="1247676"/>
            <a:ext cx="5175319" cy="20222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2912" y="3417987"/>
            <a:ext cx="5175319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Three Pillars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302912" y="3799780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3FF99"/>
          </a:solidFill>
          <a:ln/>
          <a:effectLst>
            <a:outerShdw sx="100000" sy="100000" kx="0" ky="0" algn="bl" rotWithShape="0" blurRad="246380" dist="127" dir="16200000">
              <a:srgbClr val="333333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47758" y="3844627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04649" y="3882033"/>
            <a:ext cx="4673582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Side Effects</a:t>
            </a:r>
            <a:pPr algn="l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Any operation outside React's render: fetching data, DOM access, timers, and event listeners.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302912" y="4612779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D1F5FB"/>
          </a:solidFill>
          <a:ln/>
          <a:effectLst>
            <a:outerShdw sx="100000" sy="100000" kx="0" ky="0" algn="bl" rotWithShape="0" blurRad="246380" dist="127" dir="16200000">
              <a:srgbClr val="333333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47758" y="4657626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804649" y="4695031"/>
            <a:ext cx="4673582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useEffect</a:t>
            </a:r>
            <a:pPr algn="l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Controls when side effects run using a callback and a dependency array. Always clean up after yourself.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02912" y="5425777"/>
            <a:ext cx="370176" cy="370185"/>
          </a:xfrm>
          <a:prstGeom prst="roundRect">
            <a:avLst>
              <a:gd name="adj" fmla="val 40007"/>
            </a:avLst>
          </a:prstGeom>
          <a:solidFill>
            <a:srgbClr val="FFE399"/>
          </a:solidFill>
          <a:ln/>
          <a:effectLst>
            <a:outerShdw sx="100000" sy="100000" kx="0" ky="0" algn="bl" rotWithShape="0" blurRad="246380" dist="127" dir="16200000">
              <a:srgbClr val="333333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47758" y="5470624"/>
            <a:ext cx="2803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1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804649" y="5508030"/>
            <a:ext cx="4673582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b="1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REST APIs</a:t>
            </a:r>
            <a:pPr algn="l" indent="0" marL="0">
              <a:lnSpc>
                <a:spcPct val="83000"/>
              </a:lnSpc>
              <a:buNone/>
            </a:pPr>
            <a:r>
              <a:rPr lang="en-US" sz="1800" spc="-37" kern="100" dirty="0">
                <a:solidFill>
                  <a:srgbClr val="3C3C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— Stateless, resource-based HTTP interfaces. Use GET, POST, PUT &amp; DELETE to read and modify data.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67412" y="1412180"/>
            <a:ext cx="4846318" cy="1495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spc="-59" kern="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useEffect runs after render and is the right place for any side effect — including API calls, timers, and subscriptions.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2026-10-02T16:23:13Z</dcterms:created>
  <dcterms:modified xsi:type="dcterms:W3CDTF">2026-10-02T16:23:13Z</dcterms:modified>
</cp:coreProperties>
</file>