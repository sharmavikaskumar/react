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09c0849913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09c0849913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f88252dc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f88252dc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f88252dc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f88252dc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f88252dc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f88252dc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f88252dc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f88252dc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409c0849913_89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409c0849913_89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f88252dc4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f88252dc4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409c0849913_89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409c0849913_89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f88252dc4_0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f88252dc4_0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slide" Target="/ppt/slides/slide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slide" Target="/ppt/slides/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0" name="Google Shape;10;p2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2" name="Google Shape;22;p3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3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3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6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6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6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5" name="Google Shape;65;p7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7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7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7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7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7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8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8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8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8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9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9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9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9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0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0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1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1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1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1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12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2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5" name="Google Shape;135;p13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3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1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17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7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c0849913_8_0)">
  <p:cSld name="Generated (g409c0849913_8_0)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1">
  <p:cSld name="TOC (g409c0849913_31_0)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409c0849913_47_0)">
  <p:cSld name="Title and body (g409c0849913_47_0)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 1">
  <p:cSld name="Section header_alt1 (g409c0849913_71_0)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88" name="Google Shape;188;p23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2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1" name="Google Shape;191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2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5" name="Google Shape;195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00" name="Google Shape;200;p24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2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3" name="Google Shape;203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2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7" name="Google Shape;20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8" name="Google Shape;208;p24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24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4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4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4" name="Google Shape;214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2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5" name="Google Shape;225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0" name="Google Shape;230;p26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26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6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6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7" name="Google Shape;237;p27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27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7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7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243" name="Google Shape;243;p28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28">
            <a:hlinkClick action="ppaction://hlinksldjump" r:id="rId3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28">
            <a:hlinkClick action="ppaction://hlinksldjump" r:id="rId4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8">
            <a:hlinkClick action="ppaction://hlinksldjump" r:id="rId5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8">
            <a:hlinkClick action="ppaction://hlinksldjump" r:id="rId6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8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4" name="Google Shape;254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" name="Google Shape;256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" name="Google Shape;260;p29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9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9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9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7" name="Google Shape;267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1" name="Google Shape;271;p30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30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0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0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8" name="Google Shape;278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1" name="Google Shape;281;p3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2" name="Google Shape;282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3" name="Google Shape;283;p31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31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1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1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89" name="Google Shape;289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3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32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32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2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2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0" name="Google Shape;300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3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4" name="Google Shape;304;p3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5" name="Google Shape;305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6" name="Google Shape;306;p33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" name="Google Shape;307;p33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3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3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312" name="Google Shape;312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3" name="Google Shape;313;p34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34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4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4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3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319" name="Google Shape;319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3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3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4" name="Google Shape;324;p35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5" name="Google Shape;325;p35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5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5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0" name="Google Shape;330;p36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36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6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6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36" name="Google Shape;336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37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8" name="Google Shape;338;p37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9" name="Google Shape;339;p37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2" name="Google Shape;342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6" name="Google Shape;346;p38">
            <a:hlinkClick action="ppaction://hlinksldjump" r:id="rId2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" name="Google Shape;347;p38">
            <a:hlinkClick action="ppaction://hlinksldjump" r:id="rId3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8">
            <a:hlinkClick action="ppaction://hlinksldjump" r:id="rId4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8">
            <a:hlinkClick action="ppaction://hlinksldjump" r:id="rId5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c0849913_8_0)">
  <p:cSld name="Generated (g409c0849913_8_0)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1">
  <p:cSld name="TOC (g409c0849913_31_0)">
    <p:bg>
      <p:bgPr>
        <a:solidFill>
          <a:schemeClr val="dk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409c0849913_47_0)">
  <p:cSld name="Title and body (g409c0849913_47_0)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6" name="Google Shape;356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7" name="Google Shape;357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 1">
  <p:cSld name="Section header_alt1 (g409c0849913_71_0)">
    <p:bg>
      <p:bgPr>
        <a:solidFill>
          <a:srgbClr val="434343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/>
          <p:nvPr/>
        </p:nvSpPr>
        <p:spPr>
          <a:xfrm>
            <a:off x="0" y="0"/>
            <a:ext cx="9144000" cy="4857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43"/>
          <p:cNvGrpSpPr/>
          <p:nvPr/>
        </p:nvGrpSpPr>
        <p:grpSpPr>
          <a:xfrm>
            <a:off x="381000" y="142875"/>
            <a:ext cx="762000" cy="38100"/>
            <a:chOff x="0" y="0"/>
            <a:chExt cx="762000" cy="38100"/>
          </a:xfrm>
        </p:grpSpPr>
        <p:sp>
          <p:nvSpPr>
            <p:cNvPr id="367" name="Google Shape;367;p43"/>
            <p:cNvSpPr/>
            <p:nvPr/>
          </p:nvSpPr>
          <p:spPr>
            <a:xfrm>
              <a:off x="0" y="0"/>
              <a:ext cx="381000" cy="381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381000" y="0"/>
              <a:ext cx="381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43"/>
          <p:cNvSpPr txBox="1"/>
          <p:nvPr/>
        </p:nvSpPr>
        <p:spPr>
          <a:xfrm>
            <a:off x="6858000" y="142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571500" y="762000"/>
            <a:ext cx="4381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1" sz="14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Web Development with React &amp; Node</a:t>
            </a:r>
            <a:endParaRPr b="1" sz="3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clean developer workspace with a dual monitor setup showing colorful code editor files containing React components and Node.js API endpoints, warm modern studio lighting, ultra high quality." id="371" name="Google Shape;371;p43"/>
          <p:cNvPicPr preferRelativeResize="0"/>
          <p:nvPr/>
        </p:nvPicPr>
        <p:blipFill rotWithShape="1">
          <a:blip r:embed="rId3">
            <a:alphaModFix/>
          </a:blip>
          <a:srcRect b="0" l="5261" r="5261" t="0"/>
          <a:stretch/>
        </p:blipFill>
        <p:spPr>
          <a:xfrm>
            <a:off x="5334000" y="952500"/>
            <a:ext cx="3238500" cy="3619500"/>
          </a:xfrm>
          <a:prstGeom prst="roundRect">
            <a:avLst>
              <a:gd fmla="val 4705" name="adj"/>
            </a:avLst>
          </a:prstGeom>
          <a:noFill/>
          <a:ln>
            <a:noFill/>
          </a:ln>
        </p:spPr>
      </p:pic>
      <p:sp>
        <p:nvSpPr>
          <p:cNvPr id="372" name="Google Shape;372;p43"/>
          <p:cNvSpPr/>
          <p:nvPr/>
        </p:nvSpPr>
        <p:spPr>
          <a:xfrm>
            <a:off x="5334000" y="952500"/>
            <a:ext cx="3238500" cy="3619500"/>
          </a:xfrm>
          <a:prstGeom prst="roundRect">
            <a:avLst>
              <a:gd fmla="val 4705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1A99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" name="Google Shape;373;p43"/>
          <p:cNvGrpSpPr/>
          <p:nvPr/>
        </p:nvGrpSpPr>
        <p:grpSpPr>
          <a:xfrm>
            <a:off x="5143500" y="3619500"/>
            <a:ext cx="1714500" cy="762000"/>
            <a:chOff x="0" y="0"/>
            <a:chExt cx="1714500" cy="762000"/>
          </a:xfrm>
        </p:grpSpPr>
        <p:sp>
          <p:nvSpPr>
            <p:cNvPr id="374" name="Google Shape;374;p43"/>
            <p:cNvSpPr/>
            <p:nvPr/>
          </p:nvSpPr>
          <p:spPr>
            <a:xfrm>
              <a:off x="0" y="0"/>
              <a:ext cx="1714500" cy="762000"/>
            </a:xfrm>
            <a:prstGeom prst="roundRect">
              <a:avLst>
                <a:gd fmla="val 15000" name="adj"/>
              </a:avLst>
            </a:prstGeom>
            <a:solidFill>
              <a:srgbClr val="1A9988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3"/>
            <p:cNvSpPr txBox="1"/>
            <p:nvPr/>
          </p:nvSpPr>
          <p:spPr>
            <a:xfrm>
              <a:off x="0" y="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React</a:t>
              </a:r>
              <a:endParaRPr b="1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9EDEE"/>
                  </a:solidFill>
                  <a:latin typeface="Lato"/>
                  <a:ea typeface="Lato"/>
                  <a:cs typeface="Lato"/>
                  <a:sym typeface="Lato"/>
                </a:rPr>
                <a:t>Declarative UI</a:t>
              </a:r>
              <a:endParaRPr b="0" sz="1050">
                <a:solidFill>
                  <a:srgbClr val="E9ED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6" name="Google Shape;376;p43"/>
          <p:cNvGrpSpPr/>
          <p:nvPr/>
        </p:nvGrpSpPr>
        <p:grpSpPr>
          <a:xfrm>
            <a:off x="7048500" y="3619500"/>
            <a:ext cx="1714500" cy="762000"/>
            <a:chOff x="0" y="0"/>
            <a:chExt cx="1714500" cy="762000"/>
          </a:xfrm>
        </p:grpSpPr>
        <p:sp>
          <p:nvSpPr>
            <p:cNvPr id="377" name="Google Shape;377;p43"/>
            <p:cNvSpPr/>
            <p:nvPr/>
          </p:nvSpPr>
          <p:spPr>
            <a:xfrm>
              <a:off x="0" y="0"/>
              <a:ext cx="1714500" cy="762000"/>
            </a:xfrm>
            <a:prstGeom prst="roundRect">
              <a:avLst>
                <a:gd fmla="val 15000" name="adj"/>
              </a:avLst>
            </a:prstGeom>
            <a:solidFill>
              <a:srgbClr val="434343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3"/>
            <p:cNvSpPr txBox="1"/>
            <p:nvPr/>
          </p:nvSpPr>
          <p:spPr>
            <a:xfrm>
              <a:off x="0" y="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Node.js</a:t>
              </a:r>
              <a:endParaRPr b="1" sz="1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E9EDEE"/>
                  </a:solidFill>
                  <a:latin typeface="Lato"/>
                  <a:ea typeface="Lato"/>
                  <a:cs typeface="Lato"/>
                  <a:sym typeface="Lato"/>
                </a:rPr>
                <a:t>Event-Driven API</a:t>
              </a:r>
              <a:endParaRPr b="0" sz="1050">
                <a:solidFill>
                  <a:srgbClr val="E9EDE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4" name="Google Shape;384;p44"/>
          <p:cNvSpPr txBox="1"/>
          <p:nvPr/>
        </p:nvSpPr>
        <p:spPr>
          <a:xfrm>
            <a:off x="1296772" y="78500"/>
            <a:ext cx="2100600" cy="3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8213931" y="78500"/>
            <a:ext cx="705900" cy="32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86" name="Google Shape;386;p44"/>
          <p:cNvGrpSpPr/>
          <p:nvPr/>
        </p:nvGrpSpPr>
        <p:grpSpPr>
          <a:xfrm>
            <a:off x="571500" y="762000"/>
            <a:ext cx="762000" cy="38100"/>
            <a:chOff x="0" y="0"/>
            <a:chExt cx="762000" cy="38100"/>
          </a:xfrm>
        </p:grpSpPr>
        <p:sp>
          <p:nvSpPr>
            <p:cNvPr id="387" name="Google Shape;387;p44"/>
            <p:cNvSpPr/>
            <p:nvPr/>
          </p:nvSpPr>
          <p:spPr>
            <a:xfrm>
              <a:off x="0" y="0"/>
              <a:ext cx="381000" cy="381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381000" y="0"/>
              <a:ext cx="381000" cy="381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44"/>
          <p:cNvGrpSpPr/>
          <p:nvPr/>
        </p:nvGrpSpPr>
        <p:grpSpPr>
          <a:xfrm>
            <a:off x="571500" y="904875"/>
            <a:ext cx="8001000" cy="571500"/>
            <a:chOff x="0" y="0"/>
            <a:chExt cx="8001000" cy="571500"/>
          </a:xfrm>
        </p:grpSpPr>
        <p:sp>
          <p:nvSpPr>
            <p:cNvPr id="390" name="Google Shape;390;p44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4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React: Core Concept &amp; Architecture</a:t>
              </a:r>
              <a:endParaRPr b="1" sz="26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92" name="Google Shape;392;p44"/>
          <p:cNvGrpSpPr/>
          <p:nvPr/>
        </p:nvGrpSpPr>
        <p:grpSpPr>
          <a:xfrm>
            <a:off x="571500" y="1666875"/>
            <a:ext cx="3762300" cy="3048000"/>
            <a:chOff x="0" y="0"/>
            <a:chExt cx="3762300" cy="3048000"/>
          </a:xfrm>
        </p:grpSpPr>
        <p:sp>
          <p:nvSpPr>
            <p:cNvPr id="393" name="Google Shape;393;p44"/>
            <p:cNvSpPr/>
            <p:nvPr/>
          </p:nvSpPr>
          <p:spPr>
            <a:xfrm>
              <a:off x="0" y="0"/>
              <a:ext cx="37623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4"/>
            <p:cNvSpPr txBox="1"/>
            <p:nvPr/>
          </p:nvSpPr>
          <p:spPr>
            <a:xfrm>
              <a:off x="0" y="0"/>
              <a:ext cx="3762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What is React?</a:t>
              </a:r>
              <a:endParaRPr b="1" sz="153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35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React is a powerful, open-source JavaScript library developed by Meta (Facebook) for building dynamic user interfaces.</a:t>
              </a:r>
              <a:endParaRPr b="0" sz="935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Component-Based: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Build encapsulated components that manage their own state, then compose them to make complex UIs.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Declarative UI: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Design simple views for each state in your application, and React will efficiently update and render the right components.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1A9988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Rich Ecosystem: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Highly extensible, supporting state management tools, routing libraries, and massive community-driven plugins.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5" name="Google Shape;395;p44"/>
          <p:cNvGrpSpPr/>
          <p:nvPr/>
        </p:nvGrpSpPr>
        <p:grpSpPr>
          <a:xfrm>
            <a:off x="4810125" y="1666875"/>
            <a:ext cx="3762300" cy="3048000"/>
            <a:chOff x="0" y="0"/>
            <a:chExt cx="3762300" cy="3048000"/>
          </a:xfrm>
        </p:grpSpPr>
        <p:sp>
          <p:nvSpPr>
            <p:cNvPr id="396" name="Google Shape;396;p44"/>
            <p:cNvSpPr/>
            <p:nvPr/>
          </p:nvSpPr>
          <p:spPr>
            <a:xfrm>
              <a:off x="0" y="0"/>
              <a:ext cx="37623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4"/>
            <p:cNvSpPr txBox="1"/>
            <p:nvPr/>
          </p:nvSpPr>
          <p:spPr>
            <a:xfrm>
              <a:off x="0" y="0"/>
              <a:ext cx="3762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3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How React Works</a:t>
              </a:r>
              <a:endParaRPr b="1" sz="153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35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React changes how front-end code interacts with the browser by introducing an intermediate rendering optimization layer.</a:t>
              </a:r>
              <a:endParaRPr b="0" sz="935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The Virtual DOM: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Instead of updating the actual DOM directly, React creates an in-memory virtual representation to track UI changes.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Efficient Reconciliation: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When state changes, React compares the new Virtual DOM with the previous snapshot to calculate the minimum updates needed.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935">
                  <a:solidFill>
                    <a:srgbClr val="EB5600"/>
                  </a:solidFill>
                  <a:latin typeface="Lato"/>
                  <a:ea typeface="Lato"/>
                  <a:cs typeface="Lato"/>
                  <a:sym typeface="Lato"/>
                </a:rPr>
                <a:t>✦</a:t>
              </a:r>
              <a:r>
                <a:rPr b="1" lang="en-GB" sz="935">
                  <a:solidFill>
                    <a:srgbClr val="1A1A1A"/>
                  </a:solidFill>
                  <a:latin typeface="Lato"/>
                  <a:ea typeface="Lato"/>
                  <a:cs typeface="Lato"/>
                  <a:sym typeface="Lato"/>
                </a:rPr>
                <a:t>One-Way Data Flow:</a:t>
              </a:r>
              <a:r>
                <a:rPr b="0" lang="en-GB" sz="935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Properties (props) are passed down from parent to child, establishing a predictable, easy-to-debug data cycle.</a:t>
              </a:r>
              <a:endParaRPr b="0" sz="935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04" name="Google Shape;404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45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45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45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45"/>
          <p:cNvSpPr txBox="1"/>
          <p:nvPr>
            <p:ph type="title"/>
          </p:nvPr>
        </p:nvSpPr>
        <p:spPr>
          <a:xfrm>
            <a:off x="727650" y="557100"/>
            <a:ext cx="7688700" cy="53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1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DOM vs. Virtual DOM</a:t>
            </a:r>
            <a:endParaRPr b="1" sz="221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11" name="Google Shape;411;p45"/>
          <p:cNvGrpSpPr/>
          <p:nvPr/>
        </p:nvGrpSpPr>
        <p:grpSpPr>
          <a:xfrm>
            <a:off x="571500" y="1333500"/>
            <a:ext cx="3905400" cy="3238500"/>
            <a:chOff x="0" y="0"/>
            <a:chExt cx="3905400" cy="3238500"/>
          </a:xfrm>
        </p:grpSpPr>
        <p:sp>
          <p:nvSpPr>
            <p:cNvPr id="412" name="Google Shape;412;p45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59" y="0"/>
                    <a:pt x="117750" y="8428"/>
                    <a:pt x="118628" y="23431"/>
                  </a:cubicBezTo>
                  <a:cubicBezTo>
                    <a:pt x="119507" y="38434"/>
                    <a:pt x="120000" y="58782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783"/>
                    <a:pt x="493" y="38434"/>
                    <a:pt x="1372" y="23431"/>
                  </a:cubicBezTo>
                  <a:cubicBezTo>
                    <a:pt x="2250" y="8429"/>
                    <a:pt x="3441" y="0"/>
                    <a:pt x="4683" y="0"/>
                  </a:cubicBezTo>
                  <a:close/>
                </a:path>
              </a:pathLst>
            </a:cu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5"/>
            <p:cNvSpPr txBox="1"/>
            <p:nvPr/>
          </p:nvSpPr>
          <p:spPr>
            <a:xfrm>
              <a:off x="228600" y="419100"/>
              <a:ext cx="34482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The Real DOM</a:t>
              </a:r>
              <a:endParaRPr b="1" sz="18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The Document Object Model (DOM) is the browser's structured, hierarchical representation of the UI elements on a web page.</a:t>
              </a:r>
              <a:endParaRPr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✦ Tree Structure: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It represents HTML tags as a tree of nodes that scripts can dynamically access and manipulate.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✦ Heavy Updates: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Any change requires recalculating the layout, CSS, and repainting the entire viewport.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✦ Performance Bottleneck: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Frequent direct DOM updates are slow and heavily resource-intensive for modern web applications.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15" name="Google Shape;415;p45"/>
          <p:cNvGrpSpPr/>
          <p:nvPr/>
        </p:nvGrpSpPr>
        <p:grpSpPr>
          <a:xfrm>
            <a:off x="4667250" y="1333500"/>
            <a:ext cx="3905400" cy="3238500"/>
            <a:chOff x="0" y="0"/>
            <a:chExt cx="3905400" cy="3238500"/>
          </a:xfrm>
        </p:grpSpPr>
        <p:sp>
          <p:nvSpPr>
            <p:cNvPr id="416" name="Google Shape;416;p45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5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59" y="0"/>
                    <a:pt x="117750" y="8428"/>
                    <a:pt x="118628" y="23431"/>
                  </a:cubicBezTo>
                  <a:cubicBezTo>
                    <a:pt x="119507" y="38434"/>
                    <a:pt x="120000" y="58782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783"/>
                    <a:pt x="493" y="38434"/>
                    <a:pt x="1372" y="23431"/>
                  </a:cubicBezTo>
                  <a:cubicBezTo>
                    <a:pt x="2250" y="8429"/>
                    <a:pt x="3441" y="0"/>
                    <a:pt x="4683" y="0"/>
                  </a:cubicBezTo>
                  <a:close/>
                </a:path>
              </a:pathLst>
            </a:cu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5"/>
            <p:cNvSpPr txBox="1"/>
            <p:nvPr/>
          </p:nvSpPr>
          <p:spPr>
            <a:xfrm>
              <a:off x="228600" y="419100"/>
              <a:ext cx="34482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The Virtual DOM</a:t>
              </a:r>
              <a:endParaRPr b="1" sz="18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A lightweight, abstract copy of the real DOM maintained completely in-memory by library  like React.</a:t>
              </a:r>
              <a:endParaRPr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✦ Fast Calculations: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Changes are first applied to this virtual tree, which is much faster than updating actual browser pixels.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✦ Diffing Algorithm: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React compares the updated Virtual DOM with the previous snapshot to isolate exactly what changed.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✦ Batch Reconciliation:</a:t>
              </a:r>
              <a:r>
                <a:rPr lang="en-GB" sz="11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 Only the precise difference is painted to the real DOM in a single, highly optimized batch update.</a:t>
              </a:r>
              <a:endParaRPr sz="11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5" y="0"/>
            <a:ext cx="9028077" cy="505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9" name="Google Shape;429;p47"/>
          <p:cNvGrpSpPr/>
          <p:nvPr/>
        </p:nvGrpSpPr>
        <p:grpSpPr>
          <a:xfrm>
            <a:off x="830395" y="1191250"/>
            <a:ext cx="745767" cy="45831"/>
            <a:chOff x="4580559" y="2589001"/>
            <a:chExt cx="1064468" cy="25203"/>
          </a:xfrm>
        </p:grpSpPr>
        <p:sp>
          <p:nvSpPr>
            <p:cNvPr id="430" name="Google Shape;430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7"/>
            <p:cNvSpPr/>
            <p:nvPr/>
          </p:nvSpPr>
          <p:spPr>
            <a:xfrm rot="-5400000">
              <a:off x="5366328" y="2335501"/>
              <a:ext cx="25200" cy="5322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7"/>
            <p:cNvSpPr/>
            <p:nvPr/>
          </p:nvSpPr>
          <p:spPr>
            <a:xfrm rot="-5400000">
              <a:off x="4836309" y="2333253"/>
              <a:ext cx="25200" cy="5367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47"/>
          <p:cNvSpPr/>
          <p:nvPr/>
        </p:nvSpPr>
        <p:spPr>
          <a:xfrm>
            <a:off x="8280454" y="0"/>
            <a:ext cx="863400" cy="4542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47"/>
          <p:cNvCxnSpPr/>
          <p:nvPr/>
        </p:nvCxnSpPr>
        <p:spPr>
          <a:xfrm>
            <a:off x="8598818" y="216350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47"/>
          <p:cNvCxnSpPr/>
          <p:nvPr/>
        </p:nvCxnSpPr>
        <p:spPr>
          <a:xfrm>
            <a:off x="8598818" y="250138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7"/>
          <p:cNvCxnSpPr/>
          <p:nvPr/>
        </p:nvCxnSpPr>
        <p:spPr>
          <a:xfrm>
            <a:off x="8598818" y="283925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7"/>
          <p:cNvSpPr txBox="1"/>
          <p:nvPr>
            <p:ph type="title"/>
          </p:nvPr>
        </p:nvSpPr>
        <p:spPr>
          <a:xfrm>
            <a:off x="723900" y="619125"/>
            <a:ext cx="7686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Runtime Environment</a:t>
            </a:r>
            <a:endParaRPr b="1" sz="2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39" name="Google Shape;439;p47"/>
          <p:cNvGrpSpPr/>
          <p:nvPr/>
        </p:nvGrpSpPr>
        <p:grpSpPr>
          <a:xfrm>
            <a:off x="571500" y="1333500"/>
            <a:ext cx="3905400" cy="3238500"/>
            <a:chOff x="0" y="0"/>
            <a:chExt cx="3905400" cy="3238500"/>
          </a:xfrm>
        </p:grpSpPr>
        <p:sp>
          <p:nvSpPr>
            <p:cNvPr id="440" name="Google Shape;440;p47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7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64" y="0"/>
                    <a:pt x="117755" y="8425"/>
                    <a:pt x="118633" y="23425"/>
                  </a:cubicBezTo>
                  <a:cubicBezTo>
                    <a:pt x="119512" y="38440"/>
                    <a:pt x="120000" y="5878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780"/>
                    <a:pt x="493" y="38440"/>
                    <a:pt x="1371" y="23425"/>
                  </a:cubicBezTo>
                  <a:cubicBezTo>
                    <a:pt x="2250" y="8425"/>
                    <a:pt x="3441" y="0"/>
                    <a:pt x="4683" y="0"/>
                  </a:cubicBezTo>
                  <a:close/>
                </a:path>
              </a:pathLst>
            </a:cu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2" name="Google Shape;442;p47"/>
            <p:cNvGrpSpPr/>
            <p:nvPr/>
          </p:nvGrpSpPr>
          <p:grpSpPr>
            <a:xfrm>
              <a:off x="228600" y="419100"/>
              <a:ext cx="3448200" cy="2590800"/>
              <a:chOff x="0" y="0"/>
              <a:chExt cx="3448200" cy="2590800"/>
            </a:xfrm>
          </p:grpSpPr>
          <p:sp>
            <p:nvSpPr>
              <p:cNvPr id="443" name="Google Shape;443;p47"/>
              <p:cNvSpPr/>
              <p:nvPr/>
            </p:nvSpPr>
            <p:spPr>
              <a:xfrm>
                <a:off x="0" y="0"/>
                <a:ext cx="3448200" cy="2590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47"/>
              <p:cNvSpPr txBox="1"/>
              <p:nvPr/>
            </p:nvSpPr>
            <p:spPr>
              <a:xfrm>
                <a:off x="0" y="0"/>
                <a:ext cx="3448200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1A9988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What is Node.js?</a:t>
                </a:r>
                <a:endParaRPr b="1" sz="18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GB" sz="1100">
                    <a:solidFill>
                      <a:srgbClr val="4A5568"/>
                    </a:solidFill>
                    <a:latin typeface="Lato"/>
                    <a:ea typeface="Lato"/>
                    <a:cs typeface="Lato"/>
                    <a:sym typeface="Lato"/>
                  </a:rPr>
                  <a:t>Node.js is an open-source, cross-platform JavaScript runtime environment that allows developers to execute JS code outside of a web browser.</a:t>
                </a:r>
                <a:endParaRPr b="0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45" name="Google Shape;445;p47"/>
          <p:cNvGrpSpPr/>
          <p:nvPr/>
        </p:nvGrpSpPr>
        <p:grpSpPr>
          <a:xfrm>
            <a:off x="4667250" y="1333500"/>
            <a:ext cx="3905400" cy="3238500"/>
            <a:chOff x="0" y="0"/>
            <a:chExt cx="3905400" cy="3238500"/>
          </a:xfrm>
        </p:grpSpPr>
        <p:sp>
          <p:nvSpPr>
            <p:cNvPr id="446" name="Google Shape;446;p47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7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64" y="0"/>
                    <a:pt x="117755" y="8425"/>
                    <a:pt x="118633" y="23425"/>
                  </a:cubicBezTo>
                  <a:cubicBezTo>
                    <a:pt x="119512" y="38440"/>
                    <a:pt x="120000" y="5878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780"/>
                    <a:pt x="493" y="38440"/>
                    <a:pt x="1371" y="23425"/>
                  </a:cubicBezTo>
                  <a:cubicBezTo>
                    <a:pt x="2250" y="8425"/>
                    <a:pt x="3441" y="0"/>
                    <a:pt x="4683" y="0"/>
                  </a:cubicBezTo>
                  <a:close/>
                </a:path>
              </a:pathLst>
            </a:cu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8" name="Google Shape;448;p47"/>
            <p:cNvGrpSpPr/>
            <p:nvPr/>
          </p:nvGrpSpPr>
          <p:grpSpPr>
            <a:xfrm>
              <a:off x="228600" y="419100"/>
              <a:ext cx="3448200" cy="2590800"/>
              <a:chOff x="0" y="0"/>
              <a:chExt cx="3448200" cy="2590800"/>
            </a:xfrm>
          </p:grpSpPr>
          <p:sp>
            <p:nvSpPr>
              <p:cNvPr id="449" name="Google Shape;449;p47"/>
              <p:cNvSpPr/>
              <p:nvPr/>
            </p:nvSpPr>
            <p:spPr>
              <a:xfrm>
                <a:off x="0" y="0"/>
                <a:ext cx="3448200" cy="2590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47"/>
              <p:cNvSpPr txBox="1"/>
              <p:nvPr/>
            </p:nvSpPr>
            <p:spPr>
              <a:xfrm>
                <a:off x="0" y="0"/>
                <a:ext cx="3448200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Key Architecture</a:t>
                </a:r>
                <a:endParaRPr b="1" sz="18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✦ Asynchronous &amp; Event-Driven:</a:t>
                </a:r>
                <a:r>
                  <a:rPr b="0" lang="en-GB" sz="1100">
                    <a:solidFill>
                      <a:srgbClr val="4A5568"/>
                    </a:solidFill>
                    <a:latin typeface="Lato"/>
                    <a:ea typeface="Lato"/>
                    <a:cs typeface="Lato"/>
                    <a:sym typeface="Lato"/>
                  </a:rPr>
                  <a:t> Uses a non-blocking I/O model, making it lightweight and highly efficient for data-intensive real-time apps.</a:t>
                </a:r>
                <a:endParaRPr b="0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EB5600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✦ Single-Threaded Event Loop:</a:t>
                </a:r>
                <a:r>
                  <a:rPr b="0" lang="en-GB" sz="1100">
                    <a:solidFill>
                      <a:srgbClr val="4A5568"/>
                    </a:solidFill>
                    <a:latin typeface="Lato"/>
                    <a:ea typeface="Lato"/>
                    <a:cs typeface="Lato"/>
                    <a:sym typeface="Lato"/>
                  </a:rPr>
                  <a:t> Handles thousands of concurrent connections on a single thread without thread-context switching overhead.</a:t>
                </a:r>
                <a:endParaRPr b="0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48"/>
          <p:cNvGrpSpPr/>
          <p:nvPr/>
        </p:nvGrpSpPr>
        <p:grpSpPr>
          <a:xfrm>
            <a:off x="828008" y="1141424"/>
            <a:ext cx="744167" cy="44820"/>
            <a:chOff x="4580573" y="2587808"/>
            <a:chExt cx="1063095" cy="24900"/>
          </a:xfrm>
        </p:grpSpPr>
        <p:sp>
          <p:nvSpPr>
            <p:cNvPr id="457" name="Google Shape;457;p48"/>
            <p:cNvSpPr/>
            <p:nvPr/>
          </p:nvSpPr>
          <p:spPr>
            <a:xfrm rot="-5400000">
              <a:off x="5365418" y="2334458"/>
              <a:ext cx="24900" cy="531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8"/>
            <p:cNvSpPr/>
            <p:nvPr/>
          </p:nvSpPr>
          <p:spPr>
            <a:xfrm rot="-5400000">
              <a:off x="4836323" y="2332058"/>
              <a:ext cx="24900" cy="536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9" name="Google Shape;459;p48"/>
          <p:cNvSpPr/>
          <p:nvPr/>
        </p:nvSpPr>
        <p:spPr>
          <a:xfrm>
            <a:off x="8280083" y="0"/>
            <a:ext cx="863100" cy="4533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48"/>
          <p:cNvCxnSpPr/>
          <p:nvPr/>
        </p:nvCxnSpPr>
        <p:spPr>
          <a:xfrm>
            <a:off x="8598218" y="216218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48"/>
          <p:cNvCxnSpPr/>
          <p:nvPr/>
        </p:nvCxnSpPr>
        <p:spPr>
          <a:xfrm>
            <a:off x="8598218" y="249555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48"/>
          <p:cNvCxnSpPr/>
          <p:nvPr/>
        </p:nvCxnSpPr>
        <p:spPr>
          <a:xfrm>
            <a:off x="8598218" y="283845"/>
            <a:ext cx="2163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48"/>
          <p:cNvSpPr txBox="1"/>
          <p:nvPr/>
        </p:nvSpPr>
        <p:spPr>
          <a:xfrm>
            <a:off x="571500" y="619125"/>
            <a:ext cx="8001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Execution Models: Synchronous vs. Asynchronous</a:t>
            </a:r>
            <a:endParaRPr b="1" sz="24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64" name="Google Shape;464;p48"/>
          <p:cNvGrpSpPr/>
          <p:nvPr/>
        </p:nvGrpSpPr>
        <p:grpSpPr>
          <a:xfrm>
            <a:off x="571500" y="1333500"/>
            <a:ext cx="3905400" cy="3238500"/>
            <a:chOff x="0" y="0"/>
            <a:chExt cx="3905400" cy="3238500"/>
          </a:xfrm>
        </p:grpSpPr>
        <p:sp>
          <p:nvSpPr>
            <p:cNvPr id="465" name="Google Shape;465;p4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46" y="0"/>
                    <a:pt x="117746" y="8000"/>
                    <a:pt x="118624" y="23000"/>
                  </a:cubicBezTo>
                  <a:cubicBezTo>
                    <a:pt x="119502" y="38000"/>
                    <a:pt x="120000" y="5850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500"/>
                    <a:pt x="468" y="38000"/>
                    <a:pt x="1346" y="23000"/>
                  </a:cubicBezTo>
                  <a:cubicBezTo>
                    <a:pt x="2224" y="8000"/>
                    <a:pt x="3424" y="0"/>
                    <a:pt x="4683" y="0"/>
                  </a:cubicBezTo>
                  <a:close/>
                </a:path>
              </a:pathLst>
            </a:cu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8"/>
            <p:cNvSpPr txBox="1"/>
            <p:nvPr/>
          </p:nvSpPr>
          <p:spPr>
            <a:xfrm>
              <a:off x="228600" y="419100"/>
              <a:ext cx="34482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Synchronous Execution</a:t>
              </a:r>
              <a:endParaRPr b="1" sz="16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Sequential Order: Code is executed line by line, in order. Each operation must complete before the next one can begin.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Blocking Behavior: If an operation takes a long time (like a database query), the entire thread is blocked, preventing any other tasks from running.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Predictable Flow: Easier to design and debug since execution follows a strict, step-by-step linear timeline.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68" name="Google Shape;468;p48"/>
          <p:cNvGrpSpPr/>
          <p:nvPr/>
        </p:nvGrpSpPr>
        <p:grpSpPr>
          <a:xfrm>
            <a:off x="4667250" y="1333500"/>
            <a:ext cx="3905400" cy="3238500"/>
            <a:chOff x="0" y="0"/>
            <a:chExt cx="3905400" cy="3238500"/>
          </a:xfrm>
        </p:grpSpPr>
        <p:sp>
          <p:nvSpPr>
            <p:cNvPr id="469" name="Google Shape;469;p48"/>
            <p:cNvSpPr/>
            <p:nvPr/>
          </p:nvSpPr>
          <p:spPr>
            <a:xfrm>
              <a:off x="0" y="0"/>
              <a:ext cx="39054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0" y="0"/>
              <a:ext cx="3905400" cy="228600"/>
            </a:xfrm>
            <a:custGeom>
              <a:rect b="b" l="l" r="r" t="t"/>
              <a:pathLst>
                <a:path extrusionOk="0" h="120000" w="120000">
                  <a:moveTo>
                    <a:pt x="4683" y="0"/>
                  </a:moveTo>
                  <a:lnTo>
                    <a:pt x="115317" y="0"/>
                  </a:lnTo>
                  <a:cubicBezTo>
                    <a:pt x="116546" y="0"/>
                    <a:pt x="117746" y="8000"/>
                    <a:pt x="118624" y="23000"/>
                  </a:cubicBezTo>
                  <a:cubicBezTo>
                    <a:pt x="119502" y="38000"/>
                    <a:pt x="120000" y="58500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58500"/>
                    <a:pt x="468" y="38000"/>
                    <a:pt x="1346" y="23000"/>
                  </a:cubicBezTo>
                  <a:cubicBezTo>
                    <a:pt x="2224" y="8000"/>
                    <a:pt x="3424" y="0"/>
                    <a:pt x="4683" y="0"/>
                  </a:cubicBezTo>
                  <a:close/>
                </a:path>
              </a:pathLst>
            </a:cu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8"/>
            <p:cNvSpPr txBox="1"/>
            <p:nvPr/>
          </p:nvSpPr>
          <p:spPr>
            <a:xfrm>
              <a:off x="228600" y="419100"/>
              <a:ext cx="3448200" cy="25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EB5600"/>
                  </a:solidFill>
                  <a:latin typeface="Raleway"/>
                  <a:ea typeface="Raleway"/>
                  <a:cs typeface="Raleway"/>
                  <a:sym typeface="Raleway"/>
                </a:rPr>
                <a:t>Asynchronous Execution</a:t>
              </a:r>
              <a:endParaRPr b="1" sz="16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Concurrent Design: Multiple tasks can start, run, and complete in overlapping time periods without waiting for others.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Non-Blocking I/O: Slow operations are handed off to the system. The main execution thread remains free to respond to other events.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A5568"/>
                  </a:solidFill>
                  <a:latin typeface="Lato"/>
                  <a:ea typeface="Lato"/>
                  <a:cs typeface="Lato"/>
                  <a:sym typeface="Lato"/>
                </a:rPr>
                <a:t>✦ High Efficiency: Ideal for highly concurrent, data-intensive, and real-time operations (such as Node.js applications).</a:t>
              </a:r>
              <a:endParaRPr b="0" sz="110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200"/>
            <a:ext cx="9013777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0"/>
          <p:cNvSpPr/>
          <p:nvPr/>
        </p:nvSpPr>
        <p:spPr>
          <a:xfrm>
            <a:off x="0" y="0"/>
            <a:ext cx="9144000" cy="4857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3" name="Google Shape;483;p50"/>
          <p:cNvGrpSpPr/>
          <p:nvPr/>
        </p:nvGrpSpPr>
        <p:grpSpPr>
          <a:xfrm>
            <a:off x="571500" y="190500"/>
            <a:ext cx="1066800" cy="47700"/>
            <a:chOff x="0" y="0"/>
            <a:chExt cx="1066800" cy="47700"/>
          </a:xfrm>
        </p:grpSpPr>
        <p:sp>
          <p:nvSpPr>
            <p:cNvPr id="484" name="Google Shape;484;p50"/>
            <p:cNvSpPr/>
            <p:nvPr/>
          </p:nvSpPr>
          <p:spPr>
            <a:xfrm>
              <a:off x="533400" y="0"/>
              <a:ext cx="533400" cy="477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0"/>
            <p:cNvSpPr/>
            <p:nvPr/>
          </p:nvSpPr>
          <p:spPr>
            <a:xfrm>
              <a:off x="0" y="0"/>
              <a:ext cx="533400" cy="477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6" name="Google Shape;486;p50"/>
          <p:cNvSpPr/>
          <p:nvPr/>
        </p:nvSpPr>
        <p:spPr>
          <a:xfrm>
            <a:off x="8277225" y="0"/>
            <a:ext cx="857400" cy="457200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" name="Google Shape;487;p50"/>
          <p:cNvCxnSpPr/>
          <p:nvPr/>
        </p:nvCxnSpPr>
        <p:spPr>
          <a:xfrm>
            <a:off x="8591550" y="209550"/>
            <a:ext cx="21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50"/>
          <p:cNvCxnSpPr/>
          <p:nvPr/>
        </p:nvCxnSpPr>
        <p:spPr>
          <a:xfrm>
            <a:off x="8591550" y="247650"/>
            <a:ext cx="21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50"/>
          <p:cNvCxnSpPr/>
          <p:nvPr/>
        </p:nvCxnSpPr>
        <p:spPr>
          <a:xfrm>
            <a:off x="8591550" y="285750"/>
            <a:ext cx="219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50"/>
          <p:cNvSpPr txBox="1"/>
          <p:nvPr/>
        </p:nvSpPr>
        <p:spPr>
          <a:xfrm>
            <a:off x="571500" y="619125"/>
            <a:ext cx="800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React Folder Structure: Standard Architecture</a:t>
            </a:r>
            <a:endParaRPr b="1" sz="24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1" name="Google Shape;491;p50"/>
          <p:cNvSpPr txBox="1"/>
          <p:nvPr/>
        </p:nvSpPr>
        <p:spPr>
          <a:xfrm>
            <a:off x="571500" y="10668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5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 basic, industry-standard structure is ideal for lightweight applications. It organizes essential files into public and source directories while keeping a clean and easy-to-navigate module setup.</a:t>
            </a:r>
            <a:endParaRPr b="0" sz="105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92" name="Google Shape;492;p50"/>
          <p:cNvGrpSpPr/>
          <p:nvPr/>
        </p:nvGrpSpPr>
        <p:grpSpPr>
          <a:xfrm>
            <a:off x="1714500" y="1524000"/>
            <a:ext cx="5715000" cy="3067200"/>
            <a:chOff x="0" y="0"/>
            <a:chExt cx="5715000" cy="3067200"/>
          </a:xfrm>
        </p:grpSpPr>
        <p:sp>
          <p:nvSpPr>
            <p:cNvPr id="493" name="Google Shape;493;p50"/>
            <p:cNvSpPr/>
            <p:nvPr/>
          </p:nvSpPr>
          <p:spPr>
            <a:xfrm>
              <a:off x="0" y="0"/>
              <a:ext cx="5715000" cy="3067200"/>
            </a:xfrm>
            <a:prstGeom prst="rect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50"/>
            <p:cNvSpPr txBox="1"/>
            <p:nvPr/>
          </p:nvSpPr>
          <p:spPr>
            <a:xfrm>
              <a:off x="190500" y="171450"/>
              <a:ext cx="5334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A9988"/>
                  </a:solidFill>
                  <a:latin typeface="Raleway"/>
                  <a:ea typeface="Raleway"/>
                  <a:cs typeface="Raleway"/>
                  <a:sym typeface="Raleway"/>
                </a:rPr>
                <a:t>Basic (Standard) Structure</a:t>
              </a:r>
              <a:endParaRPr b="1" sz="1600">
                <a:solidFill>
                  <a:srgbClr val="1A9988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95" name="Google Shape;495;p50"/>
            <p:cNvSpPr txBox="1"/>
            <p:nvPr/>
          </p:nvSpPr>
          <p:spPr>
            <a:xfrm>
              <a:off x="190500" y="590550"/>
              <a:ext cx="5334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my-app/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├── public/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└── src/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├── assets/ </a:t>
              </a:r>
              <a:r>
                <a:rPr b="1" i="1" lang="en-GB" sz="11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# Global static files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├── components/ </a:t>
              </a:r>
              <a:r>
                <a:rPr b="1" i="1" lang="en-GB" sz="11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# Reusable global UI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├── Button.jsx</a:t>
              </a:r>
              <a:endParaRPr b="1" sz="10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└── Header.jsx</a:t>
              </a:r>
              <a:endParaRPr b="1" sz="105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├── hooks/ </a:t>
              </a:r>
              <a:r>
                <a:rPr b="1" i="1" lang="en-GB" sz="11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# Custom React hooks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├── App.jsx </a:t>
              </a:r>
              <a:r>
                <a:rPr b="1" i="1" lang="en-GB" sz="11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# Main entry component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-GB" sz="11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└── main.jsx </a:t>
              </a:r>
              <a:r>
                <a:rPr b="1" i="1" lang="en-GB" sz="1100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# Application root</a:t>
              </a:r>
              <a:endParaRPr b="1" sz="11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